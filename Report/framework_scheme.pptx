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164592"/>
            <a:ext cx="12191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63238"/>
                </a:solidFill>
                <a:latin typeface="PingFang TC"/>
              </a:rPr>
              <a:t>法說會分析平台 · 處理流程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86384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546E7A"/>
                </a:solidFill>
                <a:latin typeface="PingFang TC"/>
              </a:rPr>
              <a:t>從原始逐字稿到互動式洞察儀表板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463040"/>
            <a:ext cx="2148839" cy="4572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228600" y="1508760"/>
            <a:ext cx="2057399" cy="54864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" y="1115568"/>
            <a:ext cx="21488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C6BC0"/>
                </a:solidFill>
                <a:latin typeface="PingFang TC"/>
              </a:rPr>
              <a:t>輸入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463040"/>
            <a:ext cx="4206240" cy="4572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377439" y="1508760"/>
            <a:ext cx="4114800" cy="54864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331720" y="111556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C6BC0"/>
                </a:solidFill>
                <a:latin typeface="PingFang TC"/>
              </a:rPr>
              <a:t>資料準備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463040"/>
            <a:ext cx="2880360" cy="4572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0" y="1508760"/>
            <a:ext cx="2788920" cy="54864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37960" y="1115568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C6BC0"/>
                </a:solidFill>
                <a:latin typeface="PingFang TC"/>
              </a:rPr>
              <a:t>三軸分析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463040"/>
            <a:ext cx="2587752" cy="4572000"/>
          </a:xfrm>
          <a:prstGeom prst="rect">
            <a:avLst/>
          </a:prstGeom>
          <a:solidFill>
            <a:srgbClr val="EC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464040" y="1508760"/>
            <a:ext cx="2496312" cy="54864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418320" y="1115568"/>
            <a:ext cx="2587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5C6BC0"/>
                </a:solidFill>
                <a:latin typeface="PingFang TC"/>
              </a:rPr>
              <a:t>整合與呈現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903220"/>
            <a:ext cx="1920240" cy="1691640"/>
          </a:xfrm>
          <a:prstGeom prst="roundRect">
            <a:avLst>
              <a:gd name="adj" fmla="val 12000"/>
            </a:avLst>
          </a:prstGeom>
          <a:solidFill>
            <a:srgbClr val="BBDEFB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5759" y="29946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263238"/>
                </a:solidFill>
                <a:latin typeface="PingFang TC"/>
              </a:rPr>
              <a:t>原始逐字稿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59" y="3470148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  <a:latin typeface="PingFang TC"/>
              </a:rPr>
              <a:t>.docx 或純文字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59" y="409193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90A4AE"/>
                </a:solidFill>
                <a:latin typeface="PingFang TC"/>
              </a:rPr>
              <a:t>支援雙語、ASR 原始輸出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2903220"/>
            <a:ext cx="2011680" cy="1691640"/>
          </a:xfrm>
          <a:prstGeom prst="roundRect">
            <a:avLst>
              <a:gd name="adj" fmla="val 12000"/>
            </a:avLst>
          </a:prstGeom>
          <a:solidFill>
            <a:srgbClr val="FFE0B2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514600" y="299466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263238"/>
                </a:solidFill>
                <a:latin typeface="PingFang TC"/>
              </a:rPr>
              <a:t>前處理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470148"/>
            <a:ext cx="1920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  <a:latin typeface="PingFang TC"/>
              </a:rPr>
              <a:t>清理、標點還原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091939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90A4AE"/>
                </a:solidFill>
                <a:latin typeface="PingFang TC"/>
              </a:rPr>
              <a:t>語者切段、缺結構時自動清理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2903220"/>
            <a:ext cx="1737360" cy="1691640"/>
          </a:xfrm>
          <a:prstGeom prst="roundRect">
            <a:avLst>
              <a:gd name="adj" fmla="val 12000"/>
            </a:avLst>
          </a:prstGeom>
          <a:solidFill>
            <a:srgbClr val="B2DFDB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709159" y="2994660"/>
            <a:ext cx="16459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263238"/>
                </a:solidFill>
                <a:latin typeface="PingFang TC"/>
              </a:rPr>
              <a:t>翻譯與 Q&amp;A 擷取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3470148"/>
            <a:ext cx="164591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  <a:latin typeface="PingFang TC"/>
              </a:rPr>
              <a:t>段落雙語翻譯 + LLM 擷取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59" y="4091939"/>
            <a:ext cx="16459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90A4AE"/>
                </a:solidFill>
                <a:latin typeface="PingFang TC"/>
              </a:rPr>
              <a:t>輸出兩份結構化 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192024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D1C4E9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720840" y="1993392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238"/>
                </a:solidFill>
                <a:latin typeface="PingFang TC"/>
              </a:rPr>
              <a:t>回答品質評分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39572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46E7A"/>
                </a:solidFill>
                <a:latin typeface="PingFang TC"/>
              </a:rPr>
              <a:t>5 維啟發式評估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798064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90A4AE"/>
                </a:solidFill>
                <a:latin typeface="PingFang TC"/>
              </a:rPr>
              <a:t>直接 / 具體 / 迴避 / 語氣 / 一致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352044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F8BBD0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720840" y="3593592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238"/>
                </a:solidFill>
                <a:latin typeface="PingFang TC"/>
              </a:rPr>
              <a:t>情緒與關鍵字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99592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46E7A"/>
                </a:solidFill>
                <a:latin typeface="PingFang TC"/>
              </a:rPr>
              <a:t>情緒比對、主題分布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398264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90A4AE"/>
                </a:solidFill>
                <a:latin typeface="PingFang TC"/>
              </a:rPr>
              <a:t>識別語氣落差與關注議題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512064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FFF59D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720840" y="5193792"/>
            <a:ext cx="2514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238"/>
                </a:solidFill>
                <a:latin typeface="PingFang TC"/>
              </a:rPr>
              <a:t>摘要與 PII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596127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546E7A"/>
                </a:solidFill>
                <a:latin typeface="PingFang TC"/>
              </a:rPr>
              <a:t>重點摘要、PII 遮罩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998464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90A4AE"/>
                </a:solidFill>
                <a:latin typeface="PingFang TC"/>
              </a:rPr>
              <a:t>5–7 句摘要、PII 去識別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55480" y="1920240"/>
            <a:ext cx="2423160" cy="4617720"/>
          </a:xfrm>
          <a:prstGeom prst="roundRect">
            <a:avLst>
              <a:gd name="adj" fmla="val 12000"/>
            </a:avLst>
          </a:prstGeom>
          <a:solidFill>
            <a:srgbClr val="FFCC80"/>
          </a:solidFill>
          <a:ln w="190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601200" y="23774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263238"/>
                </a:solidFill>
                <a:latin typeface="PingFang TC"/>
              </a:rPr>
              <a:t>互動式儀表板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01752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546E7A"/>
                </a:solidFill>
                <a:latin typeface="PingFang TC"/>
              </a:rPr>
              <a:t>雷達圖 · Q&amp;A 風險表</a:t>
            </a:r>
          </a:p>
          <a:p>
            <a:pPr algn="ctr"/>
            <a:r>
              <a:rPr sz="1200" b="0" i="0">
                <a:solidFill>
                  <a:srgbClr val="546E7A"/>
                </a:solidFill>
                <a:latin typeface="PingFang TC"/>
              </a:rPr>
              <a:t>投資洞察摘要 · LLM 對話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93776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1">
                <a:solidFill>
                  <a:srgbClr val="90A4AE"/>
                </a:solidFill>
                <a:latin typeface="PingFang TC"/>
              </a:rPr>
              <a:t>可即時追問、追蹤特定議題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240280" y="3749039"/>
            <a:ext cx="228600" cy="0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0560" y="3749039"/>
            <a:ext cx="182880" cy="0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400800" y="2628900"/>
            <a:ext cx="274320" cy="1120139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400800" y="3749039"/>
            <a:ext cx="274320" cy="480061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400800" y="3749039"/>
            <a:ext cx="274320" cy="2080261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281160" y="2628900"/>
            <a:ext cx="274320" cy="1600200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281160" y="4229100"/>
            <a:ext cx="274320" cy="0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281160" y="4229100"/>
            <a:ext cx="274320" cy="1600200"/>
          </a:xfrm>
          <a:prstGeom prst="line">
            <a:avLst/>
          </a:prstGeom>
          <a:ln w="1905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805940" y="333755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546E7A"/>
                </a:solidFill>
                <a:latin typeface="PingFang TC"/>
              </a:rPr>
              <a:t>原始文字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0" y="333755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546E7A"/>
                </a:solidFill>
                <a:latin typeface="PingFang TC"/>
              </a:rPr>
              <a:t>清理後逐字稿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97880" y="2834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546E7A"/>
                </a:solidFill>
                <a:latin typeface="PingFang TC"/>
              </a:rPr>
              <a:t>全文 + Q&amp;A JSON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33147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546E7A"/>
                </a:solidFill>
                <a:latin typeface="PingFang TC"/>
              </a:rPr>
              <a:t>三組結構化結果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1">
                <a:solidFill>
                  <a:srgbClr val="90A4AE"/>
                </a:solidFill>
                <a:latin typeface="PingFang TC"/>
              </a:rPr>
              <a:t>所有中間結果皆為結構化 JSON，可重複查詢、可審計、可隨時新增分析模組。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12191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63238"/>
                </a:solidFill>
                <a:latin typeface="PingFang TC"/>
              </a:rPr>
              <a:t>前端架構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546E7A"/>
                </a:solidFill>
                <a:latin typeface="PingFang TC"/>
              </a:rPr>
              <a:t>伺服器渲染為主、HTMX + Alpine 點綴互動性，無需重型 SPA 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10362895" cy="73152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88720" y="1581912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3238"/>
                </a:solidFill>
                <a:latin typeface="PingFang TC"/>
              </a:rPr>
              <a:t>使用者瀏覽器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581912"/>
            <a:ext cx="60652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46E7A"/>
                </a:solidFill>
                <a:latin typeface="PingFang TC"/>
              </a:rPr>
              <a:t>顯示伺服器渲染的 HTML，搭配少量 JS 處理互動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31720"/>
            <a:ext cx="10362895" cy="731520"/>
          </a:xfrm>
          <a:prstGeom prst="roundRect">
            <a:avLst>
              <a:gd name="adj" fmla="val 12000"/>
            </a:avLst>
          </a:prstGeom>
          <a:solidFill>
            <a:srgbClr val="C8E6C9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88720" y="2404872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3238"/>
                </a:solidFill>
                <a:latin typeface="PingFang TC"/>
              </a:rPr>
              <a:t>Jinja2 模板 · HTMX · Alpine.js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404872"/>
            <a:ext cx="60652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46E7A"/>
                </a:solidFill>
                <a:latin typeface="PingFang TC"/>
              </a:rPr>
              <a:t>模板組合頁面；HTMX 處理片段更新；Alpine.js 處理 chat UI 狀態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54679"/>
            <a:ext cx="10362895" cy="731520"/>
          </a:xfrm>
          <a:prstGeom prst="roundRect">
            <a:avLst>
              <a:gd name="adj" fmla="val 12000"/>
            </a:avLst>
          </a:prstGeom>
          <a:solidFill>
            <a:srgbClr val="FFF9C4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88720" y="3227832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3238"/>
                </a:solidFill>
                <a:latin typeface="PingFang TC"/>
              </a:rPr>
              <a:t>Chart.js  ·  Tailwind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227832"/>
            <a:ext cx="60652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46E7A"/>
                </a:solidFill>
                <a:latin typeface="PingFang TC"/>
              </a:rPr>
              <a:t>Chart.js 繪製五維雷達；Tailwind 提供現代設計系統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10362895" cy="731520"/>
          </a:xfrm>
          <a:prstGeom prst="roundRect">
            <a:avLst>
              <a:gd name="adj" fmla="val 12000"/>
            </a:avLst>
          </a:prstGeom>
          <a:solidFill>
            <a:srgbClr val="FFE0B2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88720" y="4050791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3238"/>
                </a:solidFill>
                <a:latin typeface="PingFang TC"/>
              </a:rPr>
              <a:t>FastAPI 路由層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050791"/>
            <a:ext cx="60652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46E7A"/>
                </a:solidFill>
                <a:latin typeface="PingFang TC"/>
              </a:rPr>
              <a:t>REST：/upload、/case/&lt;slug&gt;、/api/case/...　SSE：/sse/job、/chat/stream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800600"/>
            <a:ext cx="10362895" cy="731520"/>
          </a:xfrm>
          <a:prstGeom prst="roundRect">
            <a:avLst>
              <a:gd name="adj" fmla="val 12000"/>
            </a:avLst>
          </a:prstGeom>
          <a:solidFill>
            <a:srgbClr val="D1C4E9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88720" y="4873752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3238"/>
                </a:solidFill>
                <a:latin typeface="PingFang TC"/>
              </a:rPr>
              <a:t>Services 服務層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873752"/>
            <a:ext cx="60652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46E7A"/>
                </a:solidFill>
                <a:latin typeface="PingFang TC"/>
              </a:rPr>
              <a:t>case_loader · chat_service · upload_processor · risk_labels ·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623560"/>
            <a:ext cx="10362895" cy="731520"/>
          </a:xfrm>
          <a:prstGeom prst="roundRect">
            <a:avLst>
              <a:gd name="adj" fmla="val 12000"/>
            </a:avLst>
          </a:prstGeom>
          <a:solidFill>
            <a:srgbClr val="F8BBD0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88720" y="5696712"/>
            <a:ext cx="3657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63238"/>
                </a:solidFill>
                <a:latin typeface="PingFang TC"/>
              </a:rPr>
              <a:t>資料層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5696712"/>
            <a:ext cx="60652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546E7A"/>
                </a:solidFill>
                <a:latin typeface="PingFang TC"/>
              </a:rPr>
              <a:t>預計算 case JSON + 上傳結果 cache，皆為結構化檔案，可由其他模組重用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1">
                <a:solidFill>
                  <a:srgbClr val="90A4AE"/>
                </a:solidFill>
                <a:latin typeface="PingFang TC"/>
              </a:rPr>
              <a:t>設計原則：伺服器渲染為主、最小化 JS、所有頁面在無 JS 時仍可閱讀。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12191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63238"/>
                </a:solidFill>
                <a:latin typeface="PingFang TC"/>
              </a:rPr>
              <a:t>使用者旅程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546E7A"/>
                </a:solidFill>
                <a:latin typeface="PingFang TC"/>
              </a:rPr>
              <a:t>從上傳到追問，整段體驗約 90–150 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2613583" cy="4297680"/>
          </a:xfrm>
          <a:prstGeom prst="roundRect">
            <a:avLst>
              <a:gd name="adj" fmla="val 12000"/>
            </a:avLst>
          </a:prstGeom>
          <a:solidFill>
            <a:srgbClr val="BBDEFB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5C6BC0"/>
                </a:solidFill>
                <a:latin typeface="PingFang T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247823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63238"/>
                </a:solidFill>
                <a:latin typeface="PingFang TC"/>
              </a:rPr>
              <a:t>上傳逐字稿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24782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46E7A"/>
                </a:solidFill>
                <a:latin typeface="PingFang TC"/>
              </a:rPr>
              <a:t>在首頁拖曳 .docx 進入表單</a:t>
            </a:r>
          </a:p>
          <a:p>
            <a:pPr algn="l"/>
            <a:r>
              <a:rPr sz="1200" b="0" i="0">
                <a:solidFill>
                  <a:srgbClr val="546E7A"/>
                </a:solidFill>
                <a:latin typeface="PingFang TC"/>
              </a:rPr>
              <a:t>可選輸入案件名稱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224782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0A4AE"/>
                </a:solidFill>
                <a:latin typeface="PingFang TC"/>
              </a:rPr>
              <a:t>輸出：背景排程的 job_id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98215" y="3749039"/>
            <a:ext cx="219456" cy="0"/>
          </a:xfrm>
          <a:prstGeom prst="line">
            <a:avLst/>
          </a:prstGeom>
          <a:ln w="2540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45103" y="1600200"/>
            <a:ext cx="2613583" cy="4297680"/>
          </a:xfrm>
          <a:prstGeom prst="roundRect">
            <a:avLst>
              <a:gd name="adj" fmla="val 12000"/>
            </a:avLst>
          </a:prstGeom>
          <a:solidFill>
            <a:srgbClr val="FFE0B2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82263" y="173736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5C6BC0"/>
                </a:solidFill>
                <a:latin typeface="PingFang T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2606040"/>
            <a:ext cx="2247823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63238"/>
                </a:solidFill>
                <a:latin typeface="PingFang TC"/>
              </a:rPr>
              <a:t>等待分析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7983" y="3246120"/>
            <a:ext cx="224782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46E7A"/>
                </a:solidFill>
                <a:latin typeface="PingFang TC"/>
              </a:rPr>
              <a:t>後端依序執行五個模組</a:t>
            </a:r>
          </a:p>
          <a:p>
            <a:pPr algn="l"/>
            <a:r>
              <a:rPr sz="1200" b="0" i="0">
                <a:solidFill>
                  <a:srgbClr val="546E7A"/>
                </a:solidFill>
                <a:latin typeface="PingFang TC"/>
              </a:rPr>
              <a:t>SSE 即時回傳每階段進度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4846320"/>
            <a:ext cx="224782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0A4AE"/>
                </a:solidFill>
                <a:latin typeface="PingFang TC"/>
              </a:rPr>
              <a:t>輸出：cache/&lt;slug&gt;/ 結構化 JSON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6119" y="3749039"/>
            <a:ext cx="219456" cy="0"/>
          </a:xfrm>
          <a:prstGeom prst="line">
            <a:avLst/>
          </a:prstGeom>
          <a:ln w="2540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33007" y="1600200"/>
            <a:ext cx="2613583" cy="4297680"/>
          </a:xfrm>
          <a:prstGeom prst="roundRect">
            <a:avLst>
              <a:gd name="adj" fmla="val 12000"/>
            </a:avLst>
          </a:prstGeom>
          <a:solidFill>
            <a:srgbClr val="B2DFDB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70167" y="173736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5C6BC0"/>
                </a:solidFill>
                <a:latin typeface="PingFang T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606040"/>
            <a:ext cx="2247823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63238"/>
                </a:solidFill>
                <a:latin typeface="PingFang TC"/>
              </a:rPr>
              <a:t>瀏覽儀表板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3246120"/>
            <a:ext cx="224782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46E7A"/>
                </a:solidFill>
                <a:latin typeface="PingFang TC"/>
              </a:rPr>
              <a:t>首頁卡片點擊進入</a:t>
            </a:r>
          </a:p>
          <a:p>
            <a:pPr algn="l"/>
            <a:r>
              <a:rPr sz="1200" b="0" i="0">
                <a:solidFill>
                  <a:srgbClr val="546E7A"/>
                </a:solidFill>
                <a:latin typeface="PingFang TC"/>
              </a:rPr>
              <a:t>五大面板自動載入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4846320"/>
            <a:ext cx="224782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0A4AE"/>
                </a:solidFill>
                <a:latin typeface="PingFang TC"/>
              </a:rPr>
              <a:t>輸出：透明度評分、Q&amp;A 風險、雷達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74023" y="3749039"/>
            <a:ext cx="219456" cy="0"/>
          </a:xfrm>
          <a:prstGeom prst="line">
            <a:avLst/>
          </a:prstGeom>
          <a:ln w="25400">
            <a:solidFill>
              <a:srgbClr val="B0BE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20911" y="1600200"/>
            <a:ext cx="2613583" cy="4297680"/>
          </a:xfrm>
          <a:prstGeom prst="roundRect">
            <a:avLst>
              <a:gd name="adj" fmla="val 12000"/>
            </a:avLst>
          </a:prstGeom>
          <a:solidFill>
            <a:srgbClr val="FFCC80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58071" y="173736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5C6BC0"/>
                </a:solidFill>
                <a:latin typeface="PingFang T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3791" y="2606040"/>
            <a:ext cx="2247823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263238"/>
                </a:solidFill>
                <a:latin typeface="PingFang TC"/>
              </a:rPr>
              <a:t>智能追問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3791" y="3246120"/>
            <a:ext cx="224782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46E7A"/>
                </a:solidFill>
                <a:latin typeface="PingFang TC"/>
              </a:rPr>
              <a:t>右側對話框輸入問題</a:t>
            </a:r>
          </a:p>
          <a:p>
            <a:pPr algn="l"/>
            <a:r>
              <a:rPr sz="1200" b="0" i="0">
                <a:solidFill>
                  <a:srgbClr val="546E7A"/>
                </a:solidFill>
                <a:latin typeface="PingFang TC"/>
              </a:rPr>
              <a:t>回應透過 SSE 即時串流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3791" y="4846320"/>
            <a:ext cx="224782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0A4AE"/>
                </a:solidFill>
                <a:latin typeface="PingFang TC"/>
              </a:rPr>
              <a:t>輸出：引用題號的回答、追蹤清單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1">
                <a:solidFill>
                  <a:srgbClr val="90A4AE"/>
                </a:solidFill>
                <a:latin typeface="PingFang TC"/>
              </a:rPr>
              <a:t>任何階段失敗，狀態檔皆會留存錯誤訊息，方便除錯與重試。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12191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263238"/>
                </a:solidFill>
                <a:latin typeface="PingFang TC"/>
              </a:rPr>
              <a:t>儀表板五大面板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1">
                <a:solidFill>
                  <a:srgbClr val="546E7A"/>
                </a:solidFill>
                <a:latin typeface="PingFang TC"/>
              </a:rPr>
              <a:t>同一頁面整合所有分析結果，右側為持續對話面板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solidFill>
            <a:srgbClr val="ECEFF1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FCC80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63238"/>
                </a:solidFill>
                <a:latin typeface="PingFang TC"/>
              </a:rPr>
              <a:t>① 透明度分數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39"/>
            <a:ext cx="2011680" cy="1463040"/>
          </a:xfrm>
          <a:prstGeom prst="roundRect">
            <a:avLst>
              <a:gd name="adj" fmla="val 12000"/>
            </a:avLst>
          </a:prstGeom>
          <a:solidFill>
            <a:srgbClr val="D1C4E9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63238"/>
                </a:solidFill>
                <a:latin typeface="PingFang TC"/>
              </a:rPr>
              <a:t>② 雷達圖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737360"/>
            <a:ext cx="2926080" cy="2560320"/>
          </a:xfrm>
          <a:prstGeom prst="roundRect">
            <a:avLst>
              <a:gd name="adj" fmla="val 12000"/>
            </a:avLst>
          </a:prstGeom>
          <a:solidFill>
            <a:srgbClr val="B2DFDB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34640" y="283463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63238"/>
                </a:solidFill>
                <a:latin typeface="PingFang TC"/>
              </a:rPr>
              <a:t>③ 投資洞察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80560"/>
            <a:ext cx="5120640" cy="1463040"/>
          </a:xfrm>
          <a:prstGeom prst="roundRect">
            <a:avLst>
              <a:gd name="adj" fmla="val 12000"/>
            </a:avLst>
          </a:prstGeom>
          <a:solidFill>
            <a:srgbClr val="FFF59D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63238"/>
                </a:solidFill>
                <a:latin typeface="PingFang TC"/>
              </a:rPr>
              <a:t>④ Q&amp;A 摘要表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72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90A4AE"/>
                </a:solidFill>
                <a:latin typeface="PingFang TC"/>
              </a:rPr>
              <a:t>（示意：實際版面為 Tailwind 響應式 grid）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00200"/>
            <a:ext cx="5486400" cy="841248"/>
          </a:xfrm>
          <a:prstGeom prst="roundRect">
            <a:avLst>
              <a:gd name="adj" fmla="val 12000"/>
            </a:avLst>
          </a:prstGeom>
          <a:solidFill>
            <a:srgbClr val="FFCC80"/>
          </a:solidFill>
          <a:ln w="63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37960" y="1645920"/>
            <a:ext cx="5029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5C6BC0"/>
                </a:solidFill>
                <a:latin typeface="PingFang TC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645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63238"/>
                </a:solidFill>
                <a:latin typeface="PingFang TC"/>
              </a:rPr>
              <a:t>透明度分數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9842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PingFang TC"/>
              </a:rPr>
              <a:t>0–100 綜合分數 + 語氣穩定度標籤；位於頁面頂端 hero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532888"/>
            <a:ext cx="5486400" cy="841248"/>
          </a:xfrm>
          <a:prstGeom prst="roundRect">
            <a:avLst>
              <a:gd name="adj" fmla="val 12000"/>
            </a:avLst>
          </a:prstGeom>
          <a:solidFill>
            <a:srgbClr val="D1C4E9"/>
          </a:solidFill>
          <a:ln w="63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37960" y="2578608"/>
            <a:ext cx="5029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5C6BC0"/>
                </a:solidFill>
                <a:latin typeface="PingFang TC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57860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63238"/>
                </a:solidFill>
                <a:latin typeface="PingFang TC"/>
              </a:rPr>
              <a:t>雷達圖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91693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PingFang TC"/>
              </a:rPr>
              <a:t>Chart.js 渲染的五維分數；可直覺辨識公司強弱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465576"/>
            <a:ext cx="5486400" cy="841248"/>
          </a:xfrm>
          <a:prstGeom prst="roundRect">
            <a:avLst>
              <a:gd name="adj" fmla="val 12000"/>
            </a:avLst>
          </a:prstGeom>
          <a:solidFill>
            <a:srgbClr val="B2DFDB"/>
          </a:solidFill>
          <a:ln w="63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37960" y="3511296"/>
            <a:ext cx="5029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5C6BC0"/>
                </a:solidFill>
                <a:latin typeface="PingFang TC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51129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63238"/>
                </a:solidFill>
                <a:latin typeface="PingFang TC"/>
              </a:rPr>
              <a:t>投資洞察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849624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PingFang TC"/>
              </a:rPr>
              <a:t>LLM 撰寫的二三句頭條 + 風險清單 + 規則 bullet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398264"/>
            <a:ext cx="5486400" cy="841248"/>
          </a:xfrm>
          <a:prstGeom prst="roundRect">
            <a:avLst>
              <a:gd name="adj" fmla="val 12000"/>
            </a:avLst>
          </a:prstGeom>
          <a:solidFill>
            <a:srgbClr val="FFF59D"/>
          </a:solidFill>
          <a:ln w="63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37960" y="4443984"/>
            <a:ext cx="5029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5C6BC0"/>
                </a:solidFill>
                <a:latin typeface="PingFang T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444398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63238"/>
                </a:solidFill>
                <a:latin typeface="PingFang TC"/>
              </a:rPr>
              <a:t>Q&amp;A 摘要表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478231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PingFang TC"/>
              </a:rPr>
              <a:t>每組問答的風險標籤 + 子分數 + 原文連結錨點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330952"/>
            <a:ext cx="5486400" cy="841248"/>
          </a:xfrm>
          <a:prstGeom prst="roundRect">
            <a:avLst>
              <a:gd name="adj" fmla="val 12000"/>
            </a:avLst>
          </a:prstGeom>
          <a:solidFill>
            <a:srgbClr val="F8BBD0"/>
          </a:solidFill>
          <a:ln w="63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37960" y="5376672"/>
            <a:ext cx="5029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5C6BC0"/>
                </a:solidFill>
                <a:latin typeface="PingFang TC"/>
              </a:rPr>
              <a:t>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537667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263238"/>
                </a:solidFill>
                <a:latin typeface="PingFang TC"/>
              </a:rPr>
              <a:t>Gemini 智能問答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715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46E7A"/>
                </a:solidFill>
                <a:latin typeface="PingFang TC"/>
              </a:rPr>
              <a:t>右側持續顯示；SSE 即時串流，回答會引用具體題號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1">
                <a:solidFill>
                  <a:srgbClr val="90A4AE"/>
                </a:solidFill>
                <a:latin typeface="PingFang TC"/>
              </a:rPr>
              <a:t>每個面板都從同一份 cache/&lt;slug&gt;/ 資料夾讀取，無重複請求。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